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66CCFF"/>
                </a:solidFill>
              </a:defRPr>
            </a:pPr>
            <a:r>
              <a:t>Agentic BSP Validation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DCDCDC"/>
                </a:solidFill>
              </a:defRPr>
            </a:pPr>
            <a:r>
              <a:t>Board-Agnostic, Zero-Touch Hardware Testing Powered by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2000">
                <a:solidFill>
                  <a:srgbClr val="FFCC66"/>
                </a:solidFill>
              </a:defRPr>
            </a:pPr>
            <a:r>
              <a:t>Core Architecture</a:t>
            </a:r>
          </a:p>
          <a:p>
            <a:pPr>
              <a:spcAft>
                <a:spcPts val="1000"/>
              </a:spcAft>
              <a:defRPr sz="1500">
                <a:solidFill>
                  <a:srgbClr val="DCDCDC"/>
                </a:solidFill>
              </a:defRPr>
            </a:pPr>
            <a:r>
              <a:t>• Zero-Touch Deployment: Code is synced over SSH. No dependencies required on the target.</a:t>
            </a:r>
          </a:p>
          <a:p>
            <a:pPr>
              <a:spcAft>
                <a:spcPts val="1000"/>
              </a:spcAft>
              <a:defRPr sz="1500">
                <a:solidFill>
                  <a:srgbClr val="DCDCDC"/>
                </a:solidFill>
              </a:defRPr>
            </a:pPr>
            <a:r>
              <a:t>• Reboot-Resilient Mode: Built-in continuous session tracking survives kernel panics and hard resets.</a:t>
            </a:r>
          </a:p>
          <a:p>
            <a:pPr>
              <a:spcAft>
                <a:spcPts val="1000"/>
              </a:spcAft>
              <a:defRPr sz="1500">
                <a:solidFill>
                  <a:srgbClr val="DCDCDC"/>
                </a:solidFill>
              </a:defRPr>
            </a:pPr>
            <a:r>
              <a:t>• Comprehensive Coverage: Exhaustive hardware tests for PCIe, NVMe, I2C, SPI, UART, Ethernet, RTC.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2000">
                <a:solidFill>
                  <a:srgbClr val="FF6666"/>
                </a:solidFill>
              </a:defRPr>
            </a:pPr>
            <a:r>
              <a:t>Agentic AI Integration</a:t>
            </a:r>
          </a:p>
          <a:p>
            <a:pPr>
              <a:spcAft>
                <a:spcPts val="1000"/>
              </a:spcAft>
              <a:defRPr sz="1500">
                <a:solidFill>
                  <a:srgbClr val="DCDCDC"/>
                </a:solidFill>
              </a:defRPr>
            </a:pPr>
            <a:r>
              <a:t>• Dynamic Hardware Discovery: Connects to unknown boards, probes the hardware via SSH, and synthesizes a schema instantly.</a:t>
            </a:r>
          </a:p>
          <a:p>
            <a:pPr>
              <a:spcAft>
                <a:spcPts val="1000"/>
              </a:spcAft>
              <a:defRPr sz="1500">
                <a:solidFill>
                  <a:srgbClr val="DCDCDC"/>
                </a:solidFill>
              </a:defRPr>
            </a:pPr>
            <a:r>
              <a:t>• Autonomous RCA: If a test fails, the agent scrapes dmesg and interrupt logs to generate a Root Cause Analysis automatically.</a:t>
            </a:r>
          </a:p>
          <a:p>
            <a:pPr>
              <a:spcAft>
                <a:spcPts val="1000"/>
              </a:spcAft>
              <a:defRPr sz="1500">
                <a:solidFill>
                  <a:srgbClr val="DCDCDC"/>
                </a:solidFill>
              </a:defRPr>
            </a:pPr>
            <a:r>
              <a:t>• Reduced Overhead: Drastically lowers QA engineering hours by automating provisioning and failure analysis.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66CCFF"/>
                </a:solidFill>
              </a:defRPr>
            </a:pPr>
            <a:r>
              <a:t>Execution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2743200"/>
            <a:ext cx="1371600" cy="1097280"/>
          </a:xfrm>
          <a:prstGeom prst="roundRect">
            <a:avLst/>
          </a:prstGeom>
          <a:solidFill>
            <a:srgbClr val="6464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1. Command</a:t>
            </a:r>
            <a:br/>
            <a:r>
              <a:t>(pytest --board auto)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45920" y="3108960"/>
            <a:ext cx="365760" cy="365760"/>
          </a:xfrm>
          <a:prstGeom prst="rightArrow">
            <a:avLst/>
          </a:prstGeom>
          <a:solidFill>
            <a:srgbClr val="96969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03120" y="2743200"/>
            <a:ext cx="1371600" cy="1097280"/>
          </a:xfrm>
          <a:prstGeom prst="roundRect">
            <a:avLst/>
          </a:prstGeom>
          <a:solidFill>
            <a:srgbClr val="C8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2. Auto-Discovery</a:t>
            </a:r>
            <a:br/>
            <a:r>
              <a:t>(SSH Probe + LLM)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66160" y="3108960"/>
            <a:ext cx="365760" cy="365760"/>
          </a:xfrm>
          <a:prstGeom prst="rightArrow">
            <a:avLst/>
          </a:prstGeom>
          <a:solidFill>
            <a:srgbClr val="96969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23360" y="2743200"/>
            <a:ext cx="1371600" cy="1097280"/>
          </a:xfrm>
          <a:prstGeom prst="roundRect">
            <a:avLst/>
          </a:prstGeom>
          <a:solidFill>
            <a:srgbClr val="4682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3. Deployment</a:t>
            </a:r>
            <a:br/>
            <a:r>
              <a:t>(Sync &amp; Install)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86400" y="3108960"/>
            <a:ext cx="365760" cy="365760"/>
          </a:xfrm>
          <a:prstGeom prst="rightArrow">
            <a:avLst/>
          </a:prstGeom>
          <a:solidFill>
            <a:srgbClr val="96969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0" y="2743200"/>
            <a:ext cx="1371600" cy="1097280"/>
          </a:xfrm>
          <a:prstGeom prst="roundRect">
            <a:avLst/>
          </a:prstGeom>
          <a:solidFill>
            <a:srgbClr val="4682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4. Execution</a:t>
            </a:r>
            <a:br/>
            <a:r>
              <a:t>(Resilient Testing)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06640" y="3108960"/>
            <a:ext cx="365760" cy="365760"/>
          </a:xfrm>
          <a:prstGeom prst="rightArrow">
            <a:avLst/>
          </a:prstGeom>
          <a:solidFill>
            <a:srgbClr val="96969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0" y="2743200"/>
            <a:ext cx="1371600" cy="1097280"/>
          </a:xfrm>
          <a:prstGeom prst="roundRect">
            <a:avLst/>
          </a:prstGeom>
          <a:solidFill>
            <a:srgbClr val="C8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5. Analysis</a:t>
            </a:r>
            <a:br/>
            <a:r>
              <a:t>(Agentic RCA)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66CC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200400" cy="4114800"/>
          </a:xfrm>
          <a:prstGeom prst="roundRect">
            <a:avLst/>
          </a:prstGeom>
          <a:solidFill>
            <a:srgbClr val="2832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Host Machine (QA Server)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286000" cy="731520"/>
          </a:xfrm>
          <a:prstGeom prst="roundRect">
            <a:avLst/>
          </a:prstGeom>
          <a:solidFill>
            <a:srgbClr val="3296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Pytest Interceptor</a:t>
            </a:r>
            <a:br/>
            <a:r>
              <a:t>(conftest.py)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2286000" cy="731520"/>
          </a:xfrm>
          <a:prstGeom prst="roundRect">
            <a:avLst/>
          </a:prstGeom>
          <a:solidFill>
            <a:srgbClr val="3296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Board Discovery Engine</a:t>
            </a:r>
            <a:br/>
            <a:r>
              <a:t>(detect_board.py)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2286000" cy="731520"/>
          </a:xfrm>
          <a:prstGeom prst="roundRect">
            <a:avLst/>
          </a:prstGeom>
          <a:solidFill>
            <a:srgbClr val="C8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AI Diagnostic Agent</a:t>
            </a:r>
            <a:br/>
            <a:r>
              <a:t>(agent.py)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5669280"/>
            <a:ext cx="5486400" cy="731520"/>
          </a:xfrm>
          <a:prstGeom prst="roundRect">
            <a:avLst/>
          </a:prstGeom>
          <a:solidFill>
            <a:srgbClr val="6432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Cloud LLM (OpenRouter / OpenAI / LangChain)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011680" y="4937760"/>
            <a:ext cx="365760" cy="640080"/>
          </a:xfrm>
          <a:prstGeom prst="downArrow">
            <a:avLst/>
          </a:prstGeom>
          <a:solidFill>
            <a:srgbClr val="9696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749039" y="2926080"/>
            <a:ext cx="1645920" cy="548640"/>
          </a:xfrm>
          <a:prstGeom prst="rightArrow">
            <a:avLst/>
          </a:prstGeom>
          <a:solidFill>
            <a:srgbClr val="FF99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468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9933"/>
                </a:solidFill>
              </a:defRPr>
            </a:pPr>
            <a:r>
              <a:t>SSH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371600"/>
            <a:ext cx="3200400" cy="4114800"/>
          </a:xfrm>
          <a:prstGeom prst="roundRect">
            <a:avLst/>
          </a:prstGeom>
          <a:solidFill>
            <a:srgbClr val="2832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86400" y="1371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Target Device (Linux BSP)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103120"/>
            <a:ext cx="2286000" cy="731520"/>
          </a:xfrm>
          <a:prstGeom prst="roundRect">
            <a:avLst/>
          </a:prstGeom>
          <a:solidFill>
            <a:srgbClr val="3296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Native Pytest Execution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08960"/>
            <a:ext cx="2286000" cy="731520"/>
          </a:xfrm>
          <a:prstGeom prst="roundRect">
            <a:avLst/>
          </a:prstGeom>
          <a:solidFill>
            <a:srgbClr val="9696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Hardware Peripherals</a:t>
            </a:r>
            <a:br/>
            <a:r>
              <a:t>(I2C, SPI, GPIO, NVMe)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4114800"/>
            <a:ext cx="2286000" cy="731520"/>
          </a:xfrm>
          <a:prstGeom prst="roundRect">
            <a:avLst/>
          </a:prstGeom>
          <a:solidFill>
            <a:srgbClr val="9664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Kernel Logs (dmesg)</a:t>
            </a:r>
            <a:br/>
            <a:r>
              <a:t>&amp; Interrupts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